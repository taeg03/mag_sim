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work has focused on building a controllable physics-based simulation of the magnetometer array, using it to study array geometry and observability, and then using those results to identify limitations of a stationary array and investigate whether controlled motion can resolve them.</a:t>
            </a:r>
          </a:p>
          <a:p/>
          <a:p>
            <a:r>
              <a:t>I won't spend time reviewing the overall magnetometer project — you all know the research context. I'll jump straight into what I built and what I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I'll organize my talk around three blocks of work.</a:t>
            </a:r>
          </a:p>
          <a:p/>
          <a:p>
            <a:r>
              <a:t>First, the simulator itself and its validation.</a:t>
            </a:r>
          </a:p>
          <a:p>
            <a:r>
              <a:t>Second, a series of geometry and observability analyses.</a:t>
            </a:r>
          </a:p>
          <a:p>
            <a:r>
              <a:t>Third, a preliminary investigation of whether motion can recover the information a static array cannot.</a:t>
            </a:r>
          </a:p>
          <a:p/>
          <a:p>
            <a:r>
              <a:t>Each block feeds into the next. The simulation enables the analysis. The analysis identifies the limitations. And the motion study suggests what we should test with the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simulator takes a six-parameter source state — 3D position and magnetic moment vector — and computes the nine Bz readings the array would produce.</a:t>
            </a:r>
          </a:p>
          <a:p/>
          <a:p>
            <a:r>
              <a:t>I want to be explicit about the assumptions: single-axis sensors, ideal point-dipole source model, and a 10 nT detection threshold that I've used as a simulation parameter — not a measured hardware floor.</a:t>
            </a:r>
          </a:p>
          <a:p/>
          <a:p>
            <a:r>
              <a:t>I'll put the dipole equation details in the appendix for anyone who wants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using the simulator to answer design questions, I ran three quantitative checks against analytical predictions.</a:t>
            </a:r>
          </a:p>
          <a:p/>
          <a:p>
            <a:r>
              <a:t>The field amplitude drops with a log-log slope of exactly -3.0000 — as expected for a magnetic dipole. The maximum detection range scales as m^(1/3) with a measured exponent of 0.3350, within 0.5% of the theoretical 1/3. And the numerical detection boundary for a 1 A·m² source at a 10 nT threshold is 2.70 m, versus the analytical 2.7144 m.</a:t>
            </a:r>
          </a:p>
          <a:p/>
          <a:p>
            <a:r>
              <a:t>This gives me confidence that the simulator is correctly implementing the dipole physics before I use it to explore geometry and observability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swept sensor spacing from 1 cm to 1 meter and recorded detection range for both vertical and horizontal dipole orientations.</a:t>
            </a:r>
          </a:p>
          <a:p/>
          <a:p>
            <a:r>
              <a:t>For a vertical dipole, spacing has no effect. The center sensor always sits directly below the source and captures the on-axis peak field. Outer sensors are irrelevant for detection purposes.</a:t>
            </a:r>
          </a:p>
          <a:p/>
          <a:p>
            <a:r>
              <a:t>For a horizontal dipole, the story is different. The vertical field is exactly zero on the dipole's axis — so the center sensor is blind. Detection relies entirely on outer sensors sampling the off-axis lobes. With tight spacing, all sensors are in the null. Wider spacing allows the outer sensors to escape that null, expanding detection range from 0.74 m to 2.05 m.</a:t>
            </a:r>
          </a:p>
          <a:p/>
          <a:p>
            <a:r>
              <a:t>The point is that geometry doesn't simply scale sensitivity uniformly — it changes which field structure the array samples.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I swept aperture L across multiple depths, the condition-number curves for z = 0.1, 0.2, 0.5, and 1.0 m all collapsed onto the same curve when plotted against L/z.</a:t>
            </a:r>
          </a:p>
          <a:p/>
          <a:p>
            <a:r>
              <a:t>This makes sense: the condition number is dimensionless, and dipole field geometry is scale-invariant under uniform spatial scaling.</a:t>
            </a:r>
          </a:p>
          <a:p/>
          <a:p>
            <a:r>
              <a:t>The practical message is that conditioning is largely determined by L/z. The best-conditioned region I found for this 3×3 geometry is L/z ≈ 1–2. Below that, sensors are all sampling nearly the same flat peak. Above it, outer sensors fall into noise.</a:t>
            </a:r>
          </a:p>
          <a:p/>
          <a:p>
            <a:r>
              <a:t>Important caveat: this is the observed regime for this specific simulation geometry. It is not a universal engineering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computed two observability maps for the 20 cm aperture array: one at z = 0.2 m and one at z = 0.5 m.</a:t>
            </a:r>
          </a:p>
          <a:p/>
          <a:p>
            <a:r>
              <a:t>At z = 0.2 m, L/z = 1.0. The map shows a clear well-conditioned region — the yellow zone in the center where κ ≤ 100.</a:t>
            </a:r>
          </a:p>
          <a:p/>
          <a:p>
            <a:r>
              <a:t>At z = 0.5 m, L/z drops to 0.4. The well-conditioned map is completely empty — no grid point satisfies the criterion. The source is still detectable everywhere, but the array doesn't contain enough spatial gradient information for reliable inversion under this criterion.</a:t>
            </a:r>
          </a:p>
          <a:p/>
          <a:p>
            <a:r>
              <a:t>I want to be careful here: κ ≤ 100 is a practical simulation threshold, not a universal engineering law. But the result does illustrate the core point: detection and localization have different spatial limits, and those limits depend on L/z.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understand which aspects of the source are hardest to estimate, I compute the Jacobian — the 9×6 matrix of partial derivatives — and decompose it with SVD.</a:t>
            </a:r>
          </a:p>
          <a:p/>
          <a:p>
            <a:r>
              <a:t>Each singular value tells me how strongly a particular combination of source-parameter changes shows up across the nine sensor readings. Large singular value means easy to distinguish. Small singular value means nearly invisible.</a:t>
            </a:r>
          </a:p>
          <a:p/>
          <a:p>
            <a:r>
              <a:t>Important: the singular values do not map one-to-one onto x, y, z, mx, my, mz. They correspond to orthogonal combinations of those parameters.</a:t>
            </a:r>
          </a:p>
          <a:p/>
          <a:p>
            <a:r>
              <a:t>In the local analysis at 0.2 m depth with 2 cm spacing: z dominates in column norm. The mx/my column norms are roughly 120× smaller than z — meaning those parameter changes produce much less variation across the sensors. The full SV spread is much larger because SVD combines across all parameters; the 120× is the column-norm comparison for individual parameters. This tells me that moment orientation is much harder to recover than depth from this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probably the strongest concrete finding from the static analysis.</a:t>
            </a:r>
          </a:p>
          <a:p/>
          <a:p>
            <a:r>
              <a:t>I ran a search: fix Source A as a vertical dipole directly over the center at 0.5 m. Then sweep candidate positions and orientations to find the alternative configuration that best matches Source A's nine sensor readings.</a:t>
            </a:r>
          </a:p>
          <a:p/>
          <a:p>
            <a:r>
              <a:t>The closest match I found was Source B: 5 cm lateral offset, 21° tilt, moment magnitude 1.042 A·m². Across all nine sensors, the measurement RMSE between Source A and Source B is 3.067 nT. The worst single-sensor difference is 6.5 nT.</a:t>
            </a:r>
          </a:p>
          <a:p/>
          <a:p>
            <a:r>
              <a:t>With an assumed noise floor of 10 nT, those two configurations are effectively indistinguishable from a static snapshot.</a:t>
            </a:r>
          </a:p>
          <a:p/>
          <a:p>
            <a:r>
              <a:t>I want to be careful with the language here: I'm not saying the inversion will definitely jump between solutions — that depends on the specific algorithm. But the measurements themselves are ambiguous, so any inversion has to deal with that degeneracy.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Having found the static ambiguity, I asked whether motion can break it.</a:t>
            </a:r>
          </a:p>
          <a:p/>
          <a:p>
            <a:r>
              <a:t>I simulated translating the array along x and computed the measurement discrepancy between Source A and Source B at each position.</a:t>
            </a:r>
          </a:p>
          <a:p/>
          <a:p>
            <a:r>
              <a:t>At x = 0 — the static position — RMSE is 3.067 nT, below the assumed noise floor.</a:t>
            </a:r>
          </a:p>
          <a:p/>
          <a:p>
            <a:r>
              <a:t>At x = 0.25 m, RMSE jumps to 68.38 nT — roughly 22 times larger. The peak single-sensor difference reaches 102 nT.</a:t>
            </a:r>
          </a:p>
          <a:p/>
          <a:p>
            <a:r>
              <a:t>The intuition is that the lateral offset and tilt of Source B happen to cancel each other from the center viewpoint. Translating the array breaks that symmetry and makes the two sources clearly distinguishable.</a:t>
            </a:r>
          </a:p>
          <a:p/>
          <a:p>
            <a:r>
              <a:t>Motion creates a synthetic aperture — instead of adding hardware, motion gives the same sensors additional viewpoints.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get a global picture of how motion improves observability, I stacked the Jacobians from 21 array poses — 10 cm to each side in either X or Z, for a total of 189 sensor measurements — and computed the SVD of the combined matrix.</a:t>
            </a:r>
          </a:p>
          <a:p/>
          <a:p>
            <a:r>
              <a:t>Static: κ = 986, weakest σ = 2.3×10⁻⁸.</a:t>
            </a:r>
          </a:p>
          <a:p>
            <a:r>
              <a:t>Z translation: κ = 256, weakest σ = 5.0×10⁻⁷ — a 21.5× improvement in the weakest direction.</a:t>
            </a:r>
          </a:p>
          <a:p>
            <a:r>
              <a:t>X translation: κ = 505, weakest σ = 2.0×10⁻⁷ — an 8.6× improvement.</a:t>
            </a:r>
          </a:p>
          <a:p/>
          <a:p>
            <a:r>
              <a:t>Z translation produces the largest improvement in the weakest observable direction. X translation is the more practical option for a benchtop rig.</a:t>
            </a:r>
          </a:p>
          <a:p/>
          <a:p>
            <a:r>
              <a:t>Important caveat: I need to flag that this multi-pose analysis currently uses an unnormalized Jacobian, while the static observability study uses normalized Jacobians. I'm not hiding this — the absolute κ values are not directly comparable, but the within-motion relative improvements are meaningful.</a:t>
            </a:r>
          </a:p>
          <a:p/>
          <a:p>
            <a:r>
              <a:t>Also: the σ labels in the plot represent orthogonal combinations of source parameters, not individual x, y, z coordinates.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simulation results generate a concrete prediction: the static ambiguity should appear in real hardware data, and motion should reduce it.</a:t>
            </a:r>
          </a:p>
          <a:p/>
          <a:p>
            <a:r>
              <a:t>The proposed experiment is to move the physical array through controlled X and/or Z positions — using an Arduino-controlled linear stage — while measuring a fixed calibrated source, and compare the raw sensor readings against simulation predictions.</a:t>
            </a:r>
          </a:p>
          <a:p/>
          <a:p>
            <a:r>
              <a:t>The key things to measure on the hardware side are the actual sensor noise, sensor-to-sensor offsets, and mechanical positioning error. Those replace the idealized assumptions currently in the simulator.</a:t>
            </a:r>
          </a:p>
          <a:p/>
          <a:p>
            <a:r>
              <a:t>I want to be explicit about what is done versus what is proposed. Everything through the motion simulation is completed. The physical linear stage and hardware experiment are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equation reference for discussion. Key reminder: singular values are not individual parameter sensitivities — they are the principal axes of the combined 9×6 measurement-to-parameter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6C8"/>
          </a:solidFill>
          <a:ln>
            <a:solidFill>
              <a:srgbClr val="006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2203A"/>
                </a:solidFill>
                <a:latin typeface="Helvetica"/>
              </a:defRPr>
            </a:pPr>
            <a:r>
              <a:t>Physics-Based Modeling of the</a:t>
            </a:r>
            <a:br/>
            <a:r>
              <a:t>Magnetometer Array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E7884"/>
                </a:solidFill>
                <a:latin typeface="Arial"/>
              </a:defRPr>
            </a:pPr>
            <a:r>
              <a:t>Simulation, observability, and synthetic-aperture localization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46120"/>
            <a:ext cx="10607040" cy="2971800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411480" tIns="274320"/>
          <a:lstStyle/>
          <a:p>
            <a:pPr algn="ctr">
              <a:spcAft>
                <a:spcPts val="1000"/>
              </a:spcAft>
              <a:defRPr sz="1000" b="1">
                <a:solidFill>
                  <a:srgbClr val="0066C8"/>
                </a:solidFill>
              </a:defRPr>
            </a:pPr>
            <a:r>
              <a:t>SCOPE &amp; FRAMING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12203A"/>
                </a:solidFill>
              </a:rPr>
              <a:t>Context: </a:t>
            </a:r>
            <a:r>
              <a:rPr sz="1300">
                <a:solidFill>
                  <a:srgbClr val="44546A"/>
                </a:solidFill>
              </a:rPr>
              <a:t>The hardware team is developing and testing the physical sensor array. My work runs in parallel on the modeling and simulation side.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12203A"/>
                </a:solidFill>
              </a:rPr>
              <a:t>My contribution: </a:t>
            </a:r>
            <a:r>
              <a:rPr sz="1300">
                <a:solidFill>
                  <a:srgbClr val="44546A"/>
                </a:solidFill>
              </a:rPr>
              <a:t>A physics-based simulation of the array, used to study geometry, observability, and the limits of static sensing — and to identify what experiments would be most informative.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12203A"/>
                </a:solidFill>
              </a:rPr>
              <a:t>Today: </a:t>
            </a:r>
            <a:r>
              <a:rPr sz="1300">
                <a:solidFill>
                  <a:srgbClr val="44546A"/>
                </a:solidFill>
              </a:rPr>
              <a:t>I'll walk through what I built, how I validated it, and what the simulations suggest about array geometry, localization limits, and motion-based sensing.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6C8"/>
          </a:solidFill>
          <a:ln>
            <a:solidFill>
              <a:srgbClr val="006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66C8"/>
                </a:solidFill>
                <a:latin typeface="Helvetica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2203A"/>
                </a:solidFill>
                <a:latin typeface="Helvetica"/>
              </a:defRPr>
            </a:pPr>
            <a:r>
              <a:t>What I've Built and Investigated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83280" cy="4160520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b="1" sz="1400">
                <a:solidFill>
                  <a:srgbClr val="0066C8"/>
                </a:solidFill>
              </a:defRPr>
            </a:pPr>
            <a:r>
              <a:t>Simulation</a:t>
            </a:r>
          </a:p>
          <a:p>
            <a:pPr>
              <a:spcAft>
                <a:spcPts val="700"/>
              </a:spcAft>
              <a:defRPr sz="1200">
                <a:solidFill>
                  <a:srgbClr val="44546A"/>
                </a:solidFill>
              </a:defRPr>
            </a:pPr>
            <a:r>
              <a:t>• Physics-based magnetic dipole model</a:t>
            </a:r>
          </a:p>
          <a:p>
            <a:pPr>
              <a:spcAft>
                <a:spcPts val="700"/>
              </a:spcAft>
              <a:defRPr sz="1200">
                <a:solidFill>
                  <a:srgbClr val="44546A"/>
                </a:solidFill>
              </a:defRPr>
            </a:pPr>
            <a:r>
              <a:t>• 3×3 planar sensor array, Bz measurements</a:t>
            </a:r>
          </a:p>
          <a:p>
            <a:pPr>
              <a:spcAft>
                <a:spcPts val="700"/>
              </a:spcAft>
              <a:defRPr sz="1200">
                <a:solidFill>
                  <a:srgbClr val="44546A"/>
                </a:solidFill>
              </a:defRPr>
            </a:pPr>
            <a:r>
              <a:t>• Noise model and detection threshold</a:t>
            </a:r>
          </a:p>
          <a:p>
            <a:pPr>
              <a:spcAft>
                <a:spcPts val="700"/>
              </a:spcAft>
              <a:defRPr sz="1200">
                <a:solidFill>
                  <a:srgbClr val="44546A"/>
                </a:solidFill>
              </a:defRPr>
            </a:pPr>
            <a:r>
              <a:t>• Parameter sweeps and visualization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691640"/>
            <a:ext cx="3383280" cy="4160520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b="1" sz="1400">
                <a:solidFill>
                  <a:srgbClr val="0066C8"/>
                </a:solidFill>
              </a:defRPr>
            </a:pPr>
            <a:r>
              <a:t>Analysis</a:t>
            </a:r>
          </a:p>
          <a:p>
            <a:pPr>
              <a:spcAft>
                <a:spcPts val="700"/>
              </a:spcAft>
              <a:defRPr sz="1200">
                <a:solidFill>
                  <a:srgbClr val="44546A"/>
                </a:solidFill>
              </a:defRPr>
            </a:pPr>
            <a:r>
              <a:t>• Array geometry and aperture/depth scaling</a:t>
            </a:r>
          </a:p>
          <a:p>
            <a:pPr>
              <a:spcAft>
                <a:spcPts val="700"/>
              </a:spcAft>
              <a:defRPr sz="1200">
                <a:solidFill>
                  <a:srgbClr val="44546A"/>
                </a:solidFill>
              </a:defRPr>
            </a:pPr>
            <a:r>
              <a:t>• 6-parameter sensitivity (Jacobian / SVD)</a:t>
            </a:r>
          </a:p>
          <a:p>
            <a:pPr>
              <a:spcAft>
                <a:spcPts val="700"/>
              </a:spcAft>
              <a:defRPr sz="1200">
                <a:solidFill>
                  <a:srgbClr val="44546A"/>
                </a:solidFill>
              </a:defRPr>
            </a:pPr>
            <a:r>
              <a:t>• Observability mapping over source space</a:t>
            </a:r>
          </a:p>
          <a:p>
            <a:pPr>
              <a:spcAft>
                <a:spcPts val="700"/>
              </a:spcAft>
              <a:defRPr sz="1200">
                <a:solidFill>
                  <a:srgbClr val="44546A"/>
                </a:solidFill>
              </a:defRPr>
            </a:pPr>
            <a:r>
              <a:t>• Static ambiguity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691640"/>
            <a:ext cx="3383280" cy="4160520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b="1" sz="1400">
                <a:solidFill>
                  <a:srgbClr val="0066C8"/>
                </a:solidFill>
              </a:defRPr>
            </a:pPr>
            <a:r>
              <a:t>Motion (Simulation)</a:t>
            </a:r>
          </a:p>
          <a:p>
            <a:pPr>
              <a:spcAft>
                <a:spcPts val="700"/>
              </a:spcAft>
              <a:defRPr sz="1200">
                <a:solidFill>
                  <a:srgbClr val="44546A"/>
                </a:solidFill>
              </a:defRPr>
            </a:pPr>
            <a:r>
              <a:t>• Multi-pose Jacobian stacking</a:t>
            </a:r>
          </a:p>
          <a:p>
            <a:pPr>
              <a:spcAft>
                <a:spcPts val="700"/>
              </a:spcAft>
              <a:defRPr sz="1200">
                <a:solidFill>
                  <a:srgbClr val="44546A"/>
                </a:solidFill>
              </a:defRPr>
            </a:pPr>
            <a:r>
              <a:t>• X and Z translation comparison</a:t>
            </a:r>
          </a:p>
          <a:p>
            <a:pPr>
              <a:spcAft>
                <a:spcPts val="700"/>
              </a:spcAft>
              <a:defRPr sz="1200">
                <a:solidFill>
                  <a:srgbClr val="44546A"/>
                </a:solidFill>
              </a:defRPr>
            </a:pPr>
            <a:r>
              <a:t>• Measurement separation under motion</a:t>
            </a:r>
          </a:p>
          <a:p>
            <a:pPr>
              <a:spcAft>
                <a:spcPts val="700"/>
              </a:spcAft>
              <a:defRPr sz="1200">
                <a:solidFill>
                  <a:srgbClr val="44546A"/>
                </a:solidFill>
              </a:defRPr>
            </a:pPr>
            <a:r>
              <a:t>• Proposed hardware validation experiment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989320"/>
            <a:ext cx="10698480" cy="621792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Goal: understand what information the current array can recover, and what geometry or motion is needed to recover more.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6C8"/>
          </a:solidFill>
          <a:ln>
            <a:solidFill>
              <a:srgbClr val="006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66C8"/>
                </a:solidFill>
                <a:latin typeface="Helvetica"/>
              </a:defRPr>
            </a:pPr>
            <a:r>
              <a:t>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2203A"/>
                </a:solidFill>
                <a:latin typeface="Helvetica"/>
              </a:defRPr>
            </a:pPr>
            <a:r>
              <a:t>Simulation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E7884"/>
                </a:solidFill>
                <a:latin typeface="Arial"/>
              </a:defRPr>
            </a:pPr>
            <a:r>
              <a:t>Exactly what the simulation controls, and what it assumes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66360" cy="4251960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200"/>
              </a:spcAft>
              <a:defRPr b="1" sz="1300">
                <a:solidFill>
                  <a:srgbClr val="0066C8"/>
                </a:solidFill>
              </a:defRPr>
            </a:pPr>
            <a:r>
              <a:t>Simulation Pipeline</a:t>
            </a:r>
          </a:p>
          <a:p>
            <a:pPr>
              <a:spcAft>
                <a:spcPts val="800"/>
              </a:spcAft>
              <a:defRPr sz="1200">
                <a:solidFill>
                  <a:srgbClr val="44546A"/>
                </a:solidFill>
              </a:defRPr>
            </a:pPr>
            <a:r>
              <a:t>Source state  θ = [x, y, z, mx, my, mz]ᵀ</a:t>
            </a:r>
          </a:p>
          <a:p>
            <a:pPr>
              <a:spcAft>
                <a:spcPts val="800"/>
              </a:spcAft>
              <a:defRPr sz="1200">
                <a:solidFill>
                  <a:srgbClr val="44546A"/>
                </a:solidFill>
              </a:defRPr>
            </a:pPr>
            <a:r>
              <a:t>↓  Magnetic dipole model  (point dipole, far field)</a:t>
            </a:r>
          </a:p>
          <a:p>
            <a:pPr>
              <a:spcAft>
                <a:spcPts val="800"/>
              </a:spcAft>
              <a:defRPr sz="1200">
                <a:solidFill>
                  <a:srgbClr val="44546A"/>
                </a:solidFill>
              </a:defRPr>
            </a:pPr>
            <a:r>
              <a:t>↓  3×3 planar sensor array  (9 sensors, z-plane)</a:t>
            </a:r>
          </a:p>
          <a:p>
            <a:pPr>
              <a:spcAft>
                <a:spcPts val="800"/>
              </a:spcAft>
              <a:defRPr sz="1200">
                <a:solidFill>
                  <a:srgbClr val="44546A"/>
                </a:solidFill>
              </a:defRPr>
            </a:pPr>
            <a:r>
              <a:t>↓  9 Bz measurements  (± Gaussian noise)</a:t>
            </a:r>
          </a:p>
          <a:p>
            <a:pPr>
              <a:spcAft>
                <a:spcPts val="800"/>
              </a:spcAft>
              <a:defRPr sz="1200">
                <a:solidFill>
                  <a:srgbClr val="44546A"/>
                </a:solidFill>
              </a:defRPr>
            </a:pPr>
            <a:r>
              <a:t>↓  Inverse / observability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691640"/>
            <a:ext cx="5303520" cy="4251960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b="1" sz="1300">
                <a:solidFill>
                  <a:srgbClr val="0066C8"/>
                </a:solidFill>
              </a:defRPr>
            </a:pPr>
            <a:r>
              <a:t>Assumptions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12203A"/>
                </a:solidFill>
              </a:rPr>
              <a:t>Array: </a:t>
            </a:r>
            <a:r>
              <a:rPr sz="1150">
                <a:solidFill>
                  <a:srgbClr val="44546A"/>
                </a:solidFill>
              </a:rPr>
              <a:t>3×3 sensors, equidistant grid, z = 0 plane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12203A"/>
                </a:solidFill>
              </a:rPr>
              <a:t>Measurements: </a:t>
            </a:r>
            <a:r>
              <a:rPr sz="1150">
                <a:solidFill>
                  <a:srgbClr val="44546A"/>
                </a:solidFill>
              </a:rPr>
              <a:t>Bz component only (single-axis)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12203A"/>
                </a:solidFill>
              </a:rPr>
              <a:t>Source model: </a:t>
            </a:r>
            <a:r>
              <a:rPr sz="1150">
                <a:solidFill>
                  <a:srgbClr val="44546A"/>
                </a:solidFill>
              </a:rPr>
              <a:t>Ideal magnetic dipole  (point source, far field)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12203A"/>
                </a:solidFill>
              </a:rPr>
              <a:t>Aperture: </a:t>
            </a:r>
            <a:r>
              <a:rPr sz="1150">
                <a:solidFill>
                  <a:srgbClr val="44546A"/>
                </a:solidFill>
              </a:rPr>
              <a:t>L = 2s  (outer sensor separation)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12203A"/>
                </a:solidFill>
              </a:rPr>
              <a:t>Detection: </a:t>
            </a:r>
            <a:r>
              <a:rPr sz="1150">
                <a:solidFill>
                  <a:srgbClr val="44546A"/>
                </a:solidFill>
              </a:rPr>
              <a:t>Assumed 10 nT threshold (simulation parameter)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12203A"/>
                </a:solidFill>
              </a:rPr>
              <a:t>Noise: </a:t>
            </a:r>
            <a:r>
              <a:rPr sz="1150">
                <a:solidFill>
                  <a:srgbClr val="44546A"/>
                </a:solidFill>
              </a:rPr>
              <a:t>Gaussian, IID, for uncertainty studies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12203A"/>
                </a:solidFill>
              </a:rPr>
              <a:t>Near field: </a:t>
            </a:r>
            <a:r>
              <a:rPr sz="1150">
                <a:solidFill>
                  <a:srgbClr val="44546A"/>
                </a:solidFill>
              </a:rPr>
              <a:t>Point-dipole model breaks down at small r/d;  not modeled here (see appendix)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6E7884"/>
                </a:solidFill>
              </a:defRPr>
            </a:pPr>
            <a:r>
              <a:t>All six source parameters are treated as free. Dipole field and Jacobian equations are in the appendix.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6C8"/>
          </a:solidFill>
          <a:ln>
            <a:solidFill>
              <a:srgbClr val="006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66C8"/>
                </a:solidFill>
                <a:latin typeface="Helvetica"/>
              </a:defRPr>
            </a:pPr>
            <a: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2203A"/>
                </a:solidFill>
                <a:latin typeface="Helvetica"/>
              </a:defRPr>
            </a:pPr>
            <a:r>
              <a:t>Validation: The Simulator Reproduces Known 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E7884"/>
                </a:solidFill>
                <a:latin typeface="Arial"/>
              </a:defRPr>
            </a:pPr>
            <a:r>
              <a:t>Three quantitative checks before using the simulator for design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37560" cy="2743200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800"/>
              </a:spcAft>
              <a:defRPr b="1" sz="1250">
                <a:solidFill>
                  <a:srgbClr val="12203A"/>
                </a:solidFill>
              </a:defRPr>
            </a:pPr>
            <a:r>
              <a:t>Inverse-cube field decay</a:t>
            </a:r>
          </a:p>
          <a:p>
            <a:pPr>
              <a:spcAft>
                <a:spcPts val="1000"/>
              </a:spcAft>
              <a:defRPr sz="1400" b="1">
                <a:solidFill>
                  <a:srgbClr val="0066C8"/>
                </a:solidFill>
              </a:defRPr>
            </a:pPr>
            <a:r>
              <a:t>B ∝ r⁻³</a:t>
            </a:r>
          </a:p>
          <a:p>
            <a:pPr>
              <a:defRPr sz="1200">
                <a:solidFill>
                  <a:srgbClr val="229954"/>
                </a:solidFill>
              </a:defRPr>
            </a:pPr>
            <a:r>
              <a:t>Measured log-log slope: −3.0000</a:t>
            </a:r>
            <a:br/>
            <a:r>
              <a:t>Expected: −3 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691640"/>
            <a:ext cx="3337560" cy="2743200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800"/>
              </a:spcAft>
              <a:defRPr b="1" sz="1250">
                <a:solidFill>
                  <a:srgbClr val="12203A"/>
                </a:solidFill>
              </a:defRPr>
            </a:pPr>
            <a:r>
              <a:t>Moment scaling</a:t>
            </a:r>
          </a:p>
          <a:p>
            <a:pPr>
              <a:spcAft>
                <a:spcPts val="1000"/>
              </a:spcAft>
              <a:defRPr sz="1400" b="1">
                <a:solidFill>
                  <a:srgbClr val="0066C8"/>
                </a:solidFill>
              </a:defRPr>
            </a:pPr>
            <a:r>
              <a:t>r_max ∝ m^(1/3)</a:t>
            </a:r>
          </a:p>
          <a:p>
            <a:pPr>
              <a:defRPr sz="1200">
                <a:solidFill>
                  <a:srgbClr val="229954"/>
                </a:solidFill>
              </a:defRPr>
            </a:pPr>
            <a:r>
              <a:t>Measured slope: 0.3350</a:t>
            </a:r>
            <a:br/>
            <a:r>
              <a:t>Expected: 1/3 = 0.3333  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691640"/>
            <a:ext cx="3337560" cy="2743200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800"/>
              </a:spcAft>
              <a:defRPr b="1" sz="1250">
                <a:solidFill>
                  <a:srgbClr val="12203A"/>
                </a:solidFill>
              </a:defRPr>
            </a:pPr>
            <a:r>
              <a:t>Detection boundary</a:t>
            </a:r>
            <a:br/>
            <a:r>
              <a:t>(m = 1 A·m², B_min = 10 nT)</a:t>
            </a:r>
          </a:p>
          <a:p>
            <a:pPr>
              <a:spcAft>
                <a:spcPts val="1000"/>
              </a:spcAft>
              <a:defRPr sz="1400" b="1">
                <a:solidFill>
                  <a:srgbClr val="0066C8"/>
                </a:solidFill>
              </a:defRPr>
            </a:pPr>
            <a:r>
              <a:t>Analytical: 2.7144 m</a:t>
            </a:r>
          </a:p>
          <a:p>
            <a:pPr>
              <a:defRPr sz="1200">
                <a:solidFill>
                  <a:srgbClr val="229954"/>
                </a:solidFill>
              </a:defRPr>
            </a:pPr>
            <a:r>
              <a:t>Simulation: ~2.70 m  ✓</a:t>
            </a:r>
          </a:p>
        </p:txBody>
      </p:sp>
      <p:pic>
        <p:nvPicPr>
          <p:cNvPr id="9" name="Picture 8" descr="distance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0"/>
            <a:ext cx="5120640" cy="4078492"/>
          </a:xfrm>
          <a:prstGeom prst="rect">
            <a:avLst/>
          </a:prstGeom>
        </p:spPr>
      </p:pic>
      <p:pic>
        <p:nvPicPr>
          <p:cNvPr id="10" name="Picture 9" descr="detection_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4572000"/>
            <a:ext cx="5120640" cy="397588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4526280"/>
            <a:ext cx="10698480" cy="320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5262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2203A"/>
                </a:solidFill>
              </a:defRPr>
            </a:pPr>
            <a:r>
              <a:t>Validation complete. The simulator matches known analytical behavior across field decay, moment scaling, and detection boundaries.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6C8"/>
          </a:solidFill>
          <a:ln>
            <a:solidFill>
              <a:srgbClr val="006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66C8"/>
                </a:solidFill>
                <a:latin typeface="Helvetica"/>
              </a:defRPr>
            </a:pPr>
            <a:r>
              <a:t>GEOMETRY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2203A"/>
                </a:solidFill>
                <a:latin typeface="Helvetica"/>
              </a:defRPr>
            </a:pPr>
            <a:r>
              <a:t>Array Geometry Changes What the Sensors Can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E7884"/>
                </a:solidFill>
                <a:latin typeface="Arial"/>
              </a:defRPr>
            </a:pPr>
            <a:r>
              <a:t>Spacing does not simply increase sensitivity — it changes which field structure the array samples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512064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12203A"/>
                </a:solidFill>
              </a:defRPr>
            </a:pPr>
            <a:r>
              <a:t>Spacing sweep: 1 cm – 1 m</a:t>
            </a:r>
          </a:p>
          <a:p>
            <a:pPr>
              <a:spcAft>
                <a:spcPts val="1200"/>
              </a:spcAft>
            </a:pPr>
            <a:r>
              <a:rPr b="1" sz="1250">
                <a:solidFill>
                  <a:srgbClr val="0066C8"/>
                </a:solidFill>
              </a:rPr>
              <a:t>Vertical dipole — </a:t>
            </a:r>
            <a:r>
              <a:rPr sz="1250">
                <a:solidFill>
                  <a:srgbClr val="44546A"/>
                </a:solidFill>
              </a:rPr>
              <a:t>Detection range stays at ~2.71 m across all spacings. The on-axis field peak always falls on the center sensor; outer sensor position is irrelevant.</a:t>
            </a:r>
          </a:p>
          <a:p>
            <a:pPr>
              <a:spcAft>
                <a:spcPts val="1200"/>
              </a:spcAft>
            </a:pPr>
            <a:r>
              <a:rPr b="1" sz="1250">
                <a:solidFill>
                  <a:srgbClr val="0066C8"/>
                </a:solidFill>
              </a:rPr>
              <a:t>Horizontal dipole — </a:t>
            </a:r>
            <a:r>
              <a:rPr sz="1250">
                <a:solidFill>
                  <a:srgbClr val="44546A"/>
                </a:solidFill>
              </a:rPr>
              <a:t>Center Bz measurement is at a field null (Bz ≡ 0 on-axis). Detection range depends on outer sensors reaching the off-axis field lobes.</a:t>
            </a:r>
          </a:p>
          <a:p>
            <a:pPr>
              <a:spcAft>
                <a:spcPts val="1200"/>
              </a:spcAft>
            </a:pPr>
            <a:r>
              <a:rPr b="1" sz="1250">
                <a:solidFill>
                  <a:srgbClr val="0066C8"/>
                </a:solidFill>
              </a:rPr>
              <a:t>Horizontal range: </a:t>
            </a:r>
            <a:r>
              <a:rPr sz="1250">
                <a:solidFill>
                  <a:srgbClr val="44546A"/>
                </a:solidFill>
              </a:rPr>
              <a:t>0.74 m at 1 cm spacing  →  2.05 m at 1 m spacing  (nearly 3× increase)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937760"/>
            <a:ext cx="5120640" cy="13716"/>
          </a:xfrm>
          <a:prstGeom prst="rect">
            <a:avLst/>
          </a:prstGeom>
          <a:solidFill>
            <a:srgbClr val="D6DEEA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02920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i="1">
                <a:solidFill>
                  <a:srgbClr val="6E7884"/>
                </a:solidFill>
              </a:defRPr>
            </a:pPr>
            <a:r>
              <a:t>This shows that the array geometry determines which features of the source field are sampled — not simply 'more is better.' The implication for aperture sizing depends on the source orientation and target depth. That is addressed in the next two slides.</a:t>
            </a:r>
          </a:p>
        </p:txBody>
      </p:sp>
      <p:pic>
        <p:nvPicPr>
          <p:cNvPr id="9" name="Picture 8" descr="spacing_detection_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91640"/>
            <a:ext cx="5257800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6C8"/>
          </a:solidFill>
          <a:ln>
            <a:solidFill>
              <a:srgbClr val="006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66C8"/>
                </a:solidFill>
                <a:latin typeface="Helvetica"/>
              </a:defRPr>
            </a:pPr>
            <a:r>
              <a:t>GEOMETRY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2203A"/>
                </a:solidFill>
                <a:latin typeface="Helvetica"/>
              </a:defRPr>
            </a:pPr>
            <a:r>
              <a:t>The Key Geometry Parameter Is L/z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E7884"/>
                </a:solidFill>
                <a:latin typeface="Arial"/>
              </a:defRPr>
            </a:pPr>
            <a:r>
              <a:t>Conditioning is largely controlled by the dimensionless aperture-to-depth ratio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74920" cy="43891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1400"/>
              </a:spcAft>
              <a:defRPr b="1" sz="1400">
                <a:solidFill>
                  <a:srgbClr val="12203A"/>
                </a:solidFill>
              </a:defRPr>
            </a:pPr>
            <a:r>
              <a:t>L/z  =  array aperture / source depth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066C8"/>
                </a:solidFill>
              </a:rPr>
              <a:t>Small L/z  (&lt;0.5): </a:t>
            </a:r>
            <a:r>
              <a:rPr sz="1200">
                <a:solidFill>
                  <a:srgbClr val="44546A"/>
                </a:solidFill>
              </a:rPr>
              <a:t>All sensors see similar field values. Little spatial gradient information. Very poor conditioning.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066C8"/>
                </a:solidFill>
              </a:rPr>
              <a:t>L/z ≈ 1–2: </a:t>
            </a:r>
            <a:r>
              <a:rPr sz="1200">
                <a:solidFill>
                  <a:srgbClr val="44546A"/>
                </a:solidFill>
              </a:rPr>
              <a:t>Sensors span the peak and the inflection region of the field profile. Best conditioning observed for this 3×3 geometry.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066C8"/>
                </a:solidFill>
              </a:rPr>
              <a:t>Very large L/z  (&gt;5): </a:t>
            </a:r>
            <a:r>
              <a:rPr sz="1200">
                <a:solidFill>
                  <a:srgbClr val="44546A"/>
                </a:solidFill>
              </a:rPr>
              <a:t>Outer sensors contribute progressively less useful signal, and conditioning degrades again.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864608"/>
            <a:ext cx="5074920" cy="13716"/>
          </a:xfrm>
          <a:prstGeom prst="rect">
            <a:avLst/>
          </a:prstGeom>
          <a:solidFill>
            <a:srgbClr val="D6DEEA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956048"/>
            <a:ext cx="5074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E7884"/>
                </a:solidFill>
              </a:defRPr>
            </a:pPr>
            <a:r>
              <a:t>When aperture and depth are scaled together, the conditioning behavior is approximately invariant. Curves for z = 0.1, 0.2, 0.5, and 1.0 m collapse onto each other when plotted against L/z.</a:t>
            </a:r>
          </a:p>
        </p:txBody>
      </p:sp>
      <p:pic>
        <p:nvPicPr>
          <p:cNvPr id="9" name="Picture 8" descr="scaled_best_cond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91640"/>
            <a:ext cx="5303520" cy="39776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" y="6309360"/>
            <a:ext cx="5074920" cy="347472"/>
          </a:xfrm>
          <a:prstGeom prst="roundRect">
            <a:avLst/>
          </a:prstGeom>
          <a:solidFill>
            <a:srgbClr val="D46A0C"/>
          </a:solidFill>
          <a:ln>
            <a:solidFill>
              <a:srgbClr val="D46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Observed for the simulated 3×3 geometry — not a universal hardware rule.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6C8"/>
          </a:solidFill>
          <a:ln>
            <a:solidFill>
              <a:srgbClr val="006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66C8"/>
                </a:solidFill>
                <a:latin typeface="Helvetica"/>
              </a:defRPr>
            </a:pPr>
            <a:r>
              <a:t>OBSERVABILITY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2203A"/>
                </a:solidFill>
                <a:latin typeface="Helvetica"/>
              </a:defRPr>
            </a:pPr>
            <a:r>
              <a:t>Detection Does Not Imply Localization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E7884"/>
                </a:solidFill>
                <a:latin typeface="Arial"/>
              </a:defRPr>
            </a:pPr>
            <a:r>
              <a:t>A source can remain detectable while the array no longer satisfies the observability criterion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66360" cy="2148840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82880"/>
          <a:lstStyle/>
          <a:p>
            <a:pPr algn="ctr">
              <a:spcAft>
                <a:spcPts val="1000"/>
              </a:spcAft>
              <a:defRPr b="1" sz="1250">
                <a:solidFill>
                  <a:srgbClr val="12203A"/>
                </a:solidFill>
              </a:defRPr>
            </a:pPr>
            <a:r>
              <a:t>Array: L = 0.20 m   (10 cm sensor spacing)</a:t>
            </a:r>
          </a:p>
          <a:p>
            <a:pPr>
              <a:spcAft>
                <a:spcPts val="900"/>
              </a:spcAft>
            </a:pPr>
            <a:r>
              <a:rPr b="1" sz="1200">
                <a:solidFill>
                  <a:srgbClr val="0066C8"/>
                </a:solidFill>
              </a:rPr>
              <a:t>z = 0.20 m  →  L/z = 1.0  </a:t>
            </a:r>
            <a:r>
              <a:rPr sz="1200">
                <a:solidFill>
                  <a:srgbClr val="44546A"/>
                </a:solidFill>
              </a:rPr>
              <a:t>Well-conditioned region exists  ✓</a:t>
            </a:r>
          </a:p>
          <a:p>
            <a:pPr>
              <a:spcAft>
                <a:spcPts val="900"/>
              </a:spcAft>
            </a:pPr>
            <a:r>
              <a:rPr b="1" sz="1200">
                <a:solidFill>
                  <a:srgbClr val="0066C8"/>
                </a:solidFill>
              </a:rPr>
              <a:t>z = 0.50 m  →  L/z = 0.40  </a:t>
            </a:r>
            <a:r>
              <a:rPr sz="1200">
                <a:solidFill>
                  <a:srgbClr val="44546A"/>
                </a:solidFill>
              </a:rPr>
              <a:t>Zero locations satisfy κ ≤ 100  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66360" cy="2103120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82880"/>
          <a:lstStyle/>
          <a:p>
            <a:pPr algn="ctr">
              <a:spcAft>
                <a:spcPts val="1000"/>
              </a:spcAft>
              <a:defRPr b="1" sz="1250">
                <a:solidFill>
                  <a:srgbClr val="12203A"/>
                </a:solidFill>
              </a:defRPr>
            </a:pPr>
            <a:r>
              <a:t>What κ ≤ 100 means in this simulation</a:t>
            </a:r>
          </a:p>
          <a:p>
            <a:pPr>
              <a:defRPr sz="1200">
                <a:solidFill>
                  <a:srgbClr val="44546A"/>
                </a:solidFill>
              </a:defRPr>
            </a:pPr>
            <a:r>
              <a:t>κ is a dimensionless measure of how unevenly the inverse problem is conditioned. κ ≤ 100 is the practical classification threshold used here — not a universal guarantee of millimeter accuracy.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200">
                <a:solidFill>
                  <a:srgbClr val="44546A"/>
                </a:solidFill>
              </a:defRPr>
            </a:pPr>
            <a:r>
              <a:t>For this 20 cm aperture, increasing L toward L/z ≈ 1–2 is one way to move back into the well-conditioned regime.</a:t>
            </a:r>
          </a:p>
        </p:txBody>
      </p:sp>
      <p:pic>
        <p:nvPicPr>
          <p:cNvPr id="8" name="Picture 7" descr="practical_observability_z0.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91640"/>
            <a:ext cx="5303520" cy="3977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6108192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E7884"/>
                </a:solidFill>
              </a:defRPr>
            </a:pPr>
            <a:r>
              <a:t>Left: z = 0.2 m (L/z = 1.0) — well-conditioned zone visible.   At z = 0.5 m (L/z = 0.4), that zone disappears.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6C8"/>
          </a:solidFill>
          <a:ln>
            <a:solidFill>
              <a:srgbClr val="006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66C8"/>
                </a:solidFill>
                <a:latin typeface="Helvetica"/>
              </a:defRPr>
            </a:pPr>
            <a:r>
              <a:t>OBSERVABILITY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2203A"/>
                </a:solidFill>
                <a:latin typeface="Helvetica"/>
              </a:defRPr>
            </a:pPr>
            <a:r>
              <a:t>Which Source Changes Are Hardest to Distinguish?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E7884"/>
                </a:solidFill>
                <a:latin typeface="Arial"/>
              </a:defRPr>
            </a:pPr>
            <a:r>
              <a:t>Jacobian singular values quantify the six distinguishable directions in parameter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120640" cy="45720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12203A"/>
                </a:solidFill>
              </a:defRPr>
            </a:pPr>
            <a:r>
              <a:t>J  =  ∂f/∂θ   (9×6 sensitivity matrix)</a:t>
            </a:r>
          </a:p>
          <a:p>
            <a:pPr>
              <a:spcAft>
                <a:spcPts val="1400"/>
              </a:spcAft>
              <a:defRPr sz="1200">
                <a:solidFill>
                  <a:srgbClr val="44546A"/>
                </a:solidFill>
              </a:defRPr>
            </a:pPr>
            <a:r>
              <a:t>Each entry tells me how much one sensor reading changes when one source parameter nudges. SVD then finds the six distinguishable directions in parameter space, ranked by strength.</a:t>
            </a:r>
          </a:p>
          <a:p>
            <a:pPr>
              <a:spcAft>
                <a:spcPts val="1200"/>
              </a:spcAft>
            </a:pPr>
            <a:r>
              <a:rPr b="1" sz="1250">
                <a:solidFill>
                  <a:srgbClr val="0066C8"/>
                </a:solidFill>
              </a:rPr>
              <a:t>Large σ  →  </a:t>
            </a:r>
            <a:r>
              <a:rPr sz="1250">
                <a:solidFill>
                  <a:srgbClr val="44546A"/>
                </a:solidFill>
              </a:rPr>
              <a:t>That combination of parameter changes produces strong, distinct signal across sensors.  Easier to distinguish.</a:t>
            </a:r>
          </a:p>
          <a:p>
            <a:pPr>
              <a:spcAft>
                <a:spcPts val="1200"/>
              </a:spcAft>
            </a:pPr>
            <a:r>
              <a:rPr b="1" sz="1250">
                <a:solidFill>
                  <a:srgbClr val="0066C8"/>
                </a:solidFill>
              </a:rPr>
              <a:t>Small σ  →  </a:t>
            </a:r>
            <a:r>
              <a:rPr sz="1250">
                <a:solidFill>
                  <a:srgbClr val="44546A"/>
                </a:solidFill>
              </a:rPr>
              <a:t>That combination produces very little signal variation.  Hard to distinguish from noise.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069080"/>
            <a:ext cx="5120640" cy="13716"/>
          </a:xfrm>
          <a:prstGeom prst="rect">
            <a:avLst/>
          </a:prstGeom>
          <a:solidFill>
            <a:srgbClr val="D6DEEA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16052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2203A"/>
                </a:solidFill>
              </a:defRPr>
            </a:pPr>
            <a:r>
              <a:t>Local analysis at r = [0, 0, 0.2], m = [0, 0, 1]  (2 cm spacing):</a:t>
            </a:r>
          </a:p>
          <a:p>
            <a:pPr>
              <a:spcAft>
                <a:spcPts val="500"/>
              </a:spcAft>
              <a:defRPr sz="1150">
                <a:solidFill>
                  <a:srgbClr val="44546A"/>
                </a:solidFill>
              </a:defRPr>
            </a:pPr>
            <a:r>
              <a:t>• z sensitivity is strongest</a:t>
            </a:r>
          </a:p>
          <a:p>
            <a:pPr>
              <a:spcAft>
                <a:spcPts val="500"/>
              </a:spcAft>
              <a:defRPr sz="1150">
                <a:solidFill>
                  <a:srgbClr val="44546A"/>
                </a:solidFill>
              </a:defRPr>
            </a:pPr>
            <a:r>
              <a:t>• x / y sensitivity is weaker</a:t>
            </a:r>
          </a:p>
          <a:p>
            <a:pPr>
              <a:spcAft>
                <a:spcPts val="500"/>
              </a:spcAft>
              <a:defRPr sz="1150">
                <a:solidFill>
                  <a:srgbClr val="44546A"/>
                </a:solidFill>
              </a:defRPr>
            </a:pPr>
            <a:r>
              <a:t>• mx / my have the weakest local sensitivity, roughly 120× below z</a:t>
            </a:r>
          </a:p>
          <a:p>
            <a:pPr>
              <a:spcAft>
                <a:spcPts val="500"/>
              </a:spcAft>
              <a:defRPr sz="1150">
                <a:solidFill>
                  <a:srgbClr val="44546A"/>
                </a:solidFill>
              </a:defRPr>
            </a:pPr>
            <a:r>
              <a:t>• z and mz are coupled in the dominant modes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989320"/>
            <a:ext cx="5120640" cy="347472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The six source parameters are not equally observable.</a:t>
            </a:r>
          </a:p>
        </p:txBody>
      </p:sp>
      <p:pic>
        <p:nvPicPr>
          <p:cNvPr id="10" name="Picture 9" descr="jacobian_singular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91640"/>
            <a:ext cx="5303520" cy="3314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0" y="617220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E7884"/>
                </a:solidFill>
              </a:defRPr>
            </a:pPr>
            <a:r>
              <a:t>Note: singular values (σ₁–σ₆) correspond to orthogonal combinations of parameter changes, not individual coordinates.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6C8"/>
          </a:solidFill>
          <a:ln>
            <a:solidFill>
              <a:srgbClr val="006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66C8"/>
                </a:solidFill>
                <a:latin typeface="Helvetica"/>
              </a:defRPr>
            </a:pPr>
            <a:r>
              <a:t>KEY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2203A"/>
                </a:solidFill>
                <a:latin typeface="Helvetica"/>
              </a:defRPr>
            </a:pPr>
            <a:r>
              <a:t>A Static Array Can Produce Ambiguous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E7884"/>
                </a:solidFill>
                <a:latin typeface="Arial"/>
              </a:defRPr>
            </a:pPr>
            <a:r>
              <a:t>Two physically different configurations produce measurements that are indistinguishable at the assumed noise level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66360" cy="1600200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spcAft>
                <a:spcPts val="800"/>
              </a:spcAft>
              <a:defRPr b="1" sz="1250">
                <a:solidFill>
                  <a:srgbClr val="12203A"/>
                </a:solidFill>
              </a:defRPr>
            </a:pPr>
            <a:r>
              <a:t>Reference source  (Source A)</a:t>
            </a:r>
          </a:p>
          <a:p>
            <a:pPr>
              <a:defRPr sz="1250">
                <a:solidFill>
                  <a:srgbClr val="44546A"/>
                </a:solidFill>
              </a:defRPr>
            </a:pPr>
            <a:r>
              <a:t>r = [0, 0, 0.50] m     m = [0, 0, 1.0] A·m²   (vertical)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5166360" cy="1965960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spcAft>
                <a:spcPts val="800"/>
              </a:spcAft>
              <a:defRPr b="1" sz="1250">
                <a:solidFill>
                  <a:srgbClr val="12203A"/>
                </a:solidFill>
              </a:defRPr>
            </a:pPr>
            <a:r>
              <a:t>Alternative source  (Source B)</a:t>
            </a:r>
          </a:p>
          <a:p>
            <a:pPr>
              <a:spcAft>
                <a:spcPts val="600"/>
              </a:spcAft>
              <a:defRPr sz="1250">
                <a:solidFill>
                  <a:srgbClr val="44546A"/>
                </a:solidFill>
              </a:defRPr>
            </a:pPr>
            <a:r>
              <a:t>r = [0.05, 0, 0.50] m  (5 cm lateral offset)</a:t>
            </a:r>
          </a:p>
          <a:p>
            <a:pPr>
              <a:spcAft>
                <a:spcPts val="600"/>
              </a:spcAft>
              <a:defRPr sz="1250">
                <a:solidFill>
                  <a:srgbClr val="44546A"/>
                </a:solidFill>
              </a:defRPr>
            </a:pPr>
            <a:r>
              <a:t>Moment tilt: ≈ 21°  (mx = 0.372, mz = 0.973)</a:t>
            </a:r>
          </a:p>
          <a:p>
            <a:pPr>
              <a:spcAft>
                <a:spcPts val="600"/>
              </a:spcAft>
              <a:defRPr sz="1250">
                <a:solidFill>
                  <a:srgbClr val="44546A"/>
                </a:solidFill>
              </a:defRPr>
            </a:pPr>
            <a:r>
              <a:t>|m| ≈ 1.042 A·m²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40680"/>
            <a:ext cx="5166360" cy="1188720"/>
          </a:xfrm>
          <a:prstGeom prst="roundRect">
            <a:avLst/>
          </a:prstGeom>
          <a:solidFill>
            <a:srgbClr val="F5F2FA"/>
          </a:solidFill>
          <a:ln>
            <a:solidFill>
              <a:srgbClr val="8C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ctr">
              <a:spcAft>
                <a:spcPts val="600"/>
              </a:spcAft>
              <a:defRPr b="1" sz="1250">
                <a:solidFill>
                  <a:srgbClr val="12203A"/>
                </a:solidFill>
              </a:defRPr>
            </a:pPr>
            <a:r>
              <a:t>Measurement discrepancy</a:t>
            </a:r>
          </a:p>
          <a:p>
            <a:pPr>
              <a:defRPr b="1" sz="1300">
                <a:solidFill>
                  <a:srgbClr val="823CBE"/>
                </a:solidFill>
              </a:defRPr>
            </a:pPr>
            <a:r>
              <a:t>Measurement RMSE across all 9 sensors: 3.067 nT</a:t>
            </a:r>
          </a:p>
          <a:p>
            <a:pPr>
              <a:defRPr sz="1200">
                <a:solidFill>
                  <a:srgbClr val="44546A"/>
                </a:solidFill>
              </a:defRPr>
            </a:pPr>
            <a:r>
              <a:t>Peak single-sensor difference: 6.5 nT      Assumed noise floor: 10 nT</a:t>
            </a:r>
          </a:p>
        </p:txBody>
      </p:sp>
      <p:pic>
        <p:nvPicPr>
          <p:cNvPr id="9" name="Picture 8" descr="static_ambiguit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91640"/>
            <a:ext cx="5303520" cy="39776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26480" y="6080760"/>
            <a:ext cx="5303520" cy="548640"/>
          </a:xfrm>
          <a:prstGeom prst="round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 stationary inversion can admit multiple comparably good source configurations because the measurements themselves are ambiguous.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6C8"/>
          </a:solidFill>
          <a:ln>
            <a:solidFill>
              <a:srgbClr val="006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66C8"/>
                </a:solidFill>
                <a:latin typeface="Helvetica"/>
              </a:defRPr>
            </a:pPr>
            <a:r>
              <a:t>MOTION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2203A"/>
                </a:solidFill>
                <a:latin typeface="Helvetica"/>
              </a:defRPr>
            </a:pPr>
            <a:r>
              <a:t>Motion Breaks the Static Ambiguity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E7884"/>
                </a:solidFill>
                <a:latin typeface="Arial"/>
              </a:defRPr>
            </a:pPr>
            <a:r>
              <a:t>The same two configurations become clearly distinguishable when the array moves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120640" cy="42976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1400"/>
              </a:spcAft>
              <a:defRPr b="1" sz="1300">
                <a:solidFill>
                  <a:srgbClr val="12203A"/>
                </a:solidFill>
              </a:defRPr>
            </a:pPr>
            <a:r>
              <a:t>Effect of translating the array to x = 0.25 m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0066C8"/>
                </a:solidFill>
              </a:rPr>
              <a:t>Static (x = 0): </a:t>
            </a:r>
            <a:r>
              <a:rPr sz="1300">
                <a:solidFill>
                  <a:srgbClr val="44546A"/>
                </a:solidFill>
              </a:rPr>
              <a:t>RMSE = 3.067 nT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0066C8"/>
                </a:solidFill>
              </a:rPr>
              <a:t>At x = 0.25 m: </a:t>
            </a:r>
            <a:r>
              <a:rPr sz="1300">
                <a:solidFill>
                  <a:srgbClr val="44546A"/>
                </a:solidFill>
              </a:rPr>
              <a:t>RMSE = 68.38 nT  (~22× larger)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0066C8"/>
                </a:solidFill>
              </a:rPr>
              <a:t>Peak sensor diff: </a:t>
            </a:r>
            <a:r>
              <a:rPr sz="1300">
                <a:solidFill>
                  <a:srgbClr val="44546A"/>
                </a:solidFill>
              </a:rPr>
              <a:t>102.06 nT  (&gt;10× assumed noise floor)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370832"/>
            <a:ext cx="5120640" cy="13716"/>
          </a:xfrm>
          <a:prstGeom prst="rect">
            <a:avLst/>
          </a:prstGeom>
          <a:solidFill>
            <a:srgbClr val="D6DEEA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498848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4546A"/>
                </a:solidFill>
              </a:defRPr>
            </a:pPr>
            <a:r>
              <a:t>Motion creates a synthetic aperture by providing additional viewpoints. The geometric cancellation that makes the two sources indistinguishable from the center position does not hold across multiple viewing angles.</a:t>
            </a:r>
            <a:br/>
            <a:br/>
            <a:r>
              <a:t>This suggests that controlled platform motion could substantially reduce the static ambiguity problem.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6291072"/>
            <a:ext cx="5120640" cy="338328"/>
          </a:xfrm>
          <a:prstGeom prst="roundRect">
            <a:avLst/>
          </a:prstGeom>
          <a:solidFill>
            <a:srgbClr val="0066C8"/>
          </a:solidFill>
          <a:ln>
            <a:solidFill>
              <a:srgbClr val="006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Proposed implementation: Arduino-controlled linear stage  (see Slide 12)</a:t>
            </a:r>
          </a:p>
        </p:txBody>
      </p:sp>
      <p:pic>
        <p:nvPicPr>
          <p:cNvPr id="10" name="Picture 9" descr="measurement_sepa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91640"/>
            <a:ext cx="5303520" cy="294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6C8"/>
          </a:solidFill>
          <a:ln>
            <a:solidFill>
              <a:srgbClr val="006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66C8"/>
                </a:solidFill>
                <a:latin typeface="Helvetica"/>
              </a:defRPr>
            </a:pPr>
            <a:r>
              <a:t>MOTION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2203A"/>
                </a:solidFill>
                <a:latin typeface="Helvetica"/>
              </a:defRPr>
            </a:pPr>
            <a:r>
              <a:t>Multiple Poses Add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E7884"/>
                </a:solidFill>
                <a:latin typeface="Arial"/>
              </a:defRPr>
            </a:pPr>
            <a:r>
              <a:t>Combining 21 poses (±0.1 m, 9 sensors each) substantially strengthens the weakest observable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303520" cy="43891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2203A"/>
                </a:solidFill>
              </a:defRPr>
            </a:pPr>
            <a:r>
              <a:t>Unnormalized multi-pose Jacobian results  (21 poses, 189 total measurements)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77440"/>
            <a:ext cx="1920240" cy="365760"/>
          </a:xfrm>
          <a:prstGeom prst="rect">
            <a:avLst/>
          </a:prstGeom>
          <a:solidFill>
            <a:srgbClr val="E4EAF5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4864"/>
          <a:lstStyle/>
          <a:p>
            <a:pPr algn="ctr">
              <a:defRPr sz="1100" b="1">
                <a:solidFill>
                  <a:srgbClr val="12203A"/>
                </a:solidFill>
              </a:defRPr>
            </a:pPr>
            <a:r>
              <a:t>Configuration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2377440"/>
            <a:ext cx="1417320" cy="365760"/>
          </a:xfrm>
          <a:prstGeom prst="rect">
            <a:avLst/>
          </a:prstGeom>
          <a:solidFill>
            <a:srgbClr val="E4EAF5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4864"/>
          <a:lstStyle/>
          <a:p>
            <a:pPr algn="ctr">
              <a:defRPr sz="1100" b="1">
                <a:solidFill>
                  <a:srgbClr val="12203A"/>
                </a:solidFill>
              </a:defRPr>
            </a:pPr>
            <a:r>
              <a:t>κ (cond.)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377440"/>
            <a:ext cx="1783080" cy="365760"/>
          </a:xfrm>
          <a:prstGeom prst="rect">
            <a:avLst/>
          </a:prstGeom>
          <a:solidFill>
            <a:srgbClr val="E4EAF5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4864"/>
          <a:lstStyle/>
          <a:p>
            <a:pPr algn="ctr">
              <a:defRPr sz="1100" b="1">
                <a:solidFill>
                  <a:srgbClr val="12203A"/>
                </a:solidFill>
              </a:defRPr>
            </a:pPr>
            <a:r>
              <a:t>Weakest σ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70632"/>
            <a:ext cx="1920240" cy="411480"/>
          </a:xfrm>
          <a:prstGeom prst="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4864"/>
          <a:lstStyle/>
          <a:p>
            <a:pPr algn="ctr">
              <a:defRPr sz="1100" b="0">
                <a:solidFill>
                  <a:srgbClr val="44546A"/>
                </a:solidFill>
              </a:defRPr>
            </a:pPr>
            <a:r>
              <a:t>Static (1 pose)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2770632"/>
            <a:ext cx="1417320" cy="411480"/>
          </a:xfrm>
          <a:prstGeom prst="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4864"/>
          <a:lstStyle/>
          <a:p>
            <a:pPr algn="ctr">
              <a:defRPr sz="1100" b="0">
                <a:solidFill>
                  <a:srgbClr val="44546A"/>
                </a:solidFill>
              </a:defRPr>
            </a:pPr>
            <a:r>
              <a:t>986.42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2770632"/>
            <a:ext cx="1783080" cy="411480"/>
          </a:xfrm>
          <a:prstGeom prst="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4864"/>
          <a:lstStyle/>
          <a:p>
            <a:pPr algn="ctr">
              <a:defRPr sz="1100" b="0">
                <a:solidFill>
                  <a:srgbClr val="44546A"/>
                </a:solidFill>
              </a:defRPr>
            </a:pPr>
            <a:r>
              <a:t>2.319 × 10⁻⁸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163824"/>
            <a:ext cx="19202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4864"/>
          <a:lstStyle/>
          <a:p>
            <a:pPr algn="ctr">
              <a:defRPr sz="1100" b="0">
                <a:solidFill>
                  <a:srgbClr val="44546A"/>
                </a:solidFill>
              </a:defRPr>
            </a:pPr>
            <a:r>
              <a:t>Z translation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3163824"/>
            <a:ext cx="14173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4864"/>
          <a:lstStyle/>
          <a:p>
            <a:pPr algn="ctr">
              <a:defRPr sz="1100" b="0">
                <a:solidFill>
                  <a:srgbClr val="44546A"/>
                </a:solidFill>
              </a:defRPr>
            </a:pPr>
            <a:r>
              <a:t>255.59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3163824"/>
            <a:ext cx="17830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4864"/>
          <a:lstStyle/>
          <a:p>
            <a:pPr algn="ctr">
              <a:defRPr sz="1100" b="0">
                <a:solidFill>
                  <a:srgbClr val="44546A"/>
                </a:solidFill>
              </a:defRPr>
            </a:pPr>
            <a:r>
              <a:t>4.998 × 10⁻⁷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557016"/>
            <a:ext cx="1920240" cy="411480"/>
          </a:xfrm>
          <a:prstGeom prst="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4864"/>
          <a:lstStyle/>
          <a:p>
            <a:pPr algn="ctr">
              <a:defRPr sz="1100" b="0">
                <a:solidFill>
                  <a:srgbClr val="44546A"/>
                </a:solidFill>
              </a:defRPr>
            </a:pPr>
            <a:r>
              <a:t>X translation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3557016"/>
            <a:ext cx="1417320" cy="411480"/>
          </a:xfrm>
          <a:prstGeom prst="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4864"/>
          <a:lstStyle/>
          <a:p>
            <a:pPr algn="ctr">
              <a:defRPr sz="1100" b="0">
                <a:solidFill>
                  <a:srgbClr val="44546A"/>
                </a:solidFill>
              </a:defRPr>
            </a:pPr>
            <a:r>
              <a:t>504.78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3557016"/>
            <a:ext cx="1783080" cy="411480"/>
          </a:xfrm>
          <a:prstGeom prst="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4864"/>
          <a:lstStyle/>
          <a:p>
            <a:pPr algn="ctr">
              <a:defRPr sz="1100" b="0">
                <a:solidFill>
                  <a:srgbClr val="44546A"/>
                </a:solidFill>
              </a:defRPr>
            </a:pPr>
            <a:r>
              <a:t>1.998 × 10⁻⁷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9768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50">
                <a:solidFill>
                  <a:srgbClr val="0066C8"/>
                </a:solidFill>
              </a:rPr>
              <a:t>Z translation: </a:t>
            </a:r>
            <a:r>
              <a:rPr sz="1250">
                <a:solidFill>
                  <a:srgbClr val="44546A"/>
                </a:solidFill>
              </a:rPr>
              <a:t>κ improves by ~3.86×,  weakest σ improves by ~21.5×</a:t>
            </a:r>
          </a:p>
          <a:p>
            <a:pPr>
              <a:spcAft>
                <a:spcPts val="800"/>
              </a:spcAft>
            </a:pPr>
            <a:r>
              <a:rPr b="1" sz="1250">
                <a:solidFill>
                  <a:srgbClr val="0066C8"/>
                </a:solidFill>
              </a:rPr>
              <a:t>X translation: </a:t>
            </a:r>
            <a:r>
              <a:rPr sz="1250">
                <a:solidFill>
                  <a:srgbClr val="44546A"/>
                </a:solidFill>
              </a:rPr>
              <a:t>κ improves by ~1.95×,  weakest σ improves by ~8.6×</a:t>
            </a:r>
          </a:p>
          <a:p>
            <a:pPr>
              <a:spcAft>
                <a:spcPts val="600"/>
              </a:spcAft>
              <a:defRPr sz="1200">
                <a:solidFill>
                  <a:srgbClr val="44546A"/>
                </a:solidFill>
              </a:defRPr>
            </a:pPr>
            <a:r>
              <a:t>Z translation produces the largest improvement in the weakest observable direction in this simulation.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394960"/>
            <a:ext cx="5303520" cy="1188720"/>
          </a:xfrm>
          <a:prstGeom prst="roundRect">
            <a:avLst/>
          </a:prstGeom>
          <a:solidFill>
            <a:srgbClr val="FFF8EB"/>
          </a:solidFill>
          <a:ln>
            <a:solidFill>
              <a:srgbClr val="D46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600"/>
              </a:spcAft>
              <a:defRPr b="1" sz="1150">
                <a:solidFill>
                  <a:srgbClr val="D46A0C"/>
                </a:solidFill>
              </a:defRPr>
            </a:pPr>
            <a:r>
              <a:t>⚠  Normalization caveat</a:t>
            </a:r>
          </a:p>
          <a:p>
            <a:pPr>
              <a:defRPr sz="1100">
                <a:solidFill>
                  <a:srgbClr val="44546A"/>
                </a:solidFill>
              </a:defRPr>
            </a:pPr>
            <a:r>
              <a:t>This multi-pose analysis uses an unnormalized Jacobian. The static geometry study uses a normalized Jacobian. The absolute κ values are not directly comparable across the two analyses; only the within-motion relative improvements are.</a:t>
            </a:r>
          </a:p>
        </p:txBody>
      </p:sp>
      <p:pic>
        <p:nvPicPr>
          <p:cNvPr id="21" name="Picture 20" descr="singular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212080" cy="2895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17920" y="61722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E7884"/>
                </a:solidFill>
              </a:defRPr>
            </a:pPr>
            <a:r>
              <a:t>σ₁–σ₆ are orthogonal combinations of source-parameter changes, not individual coordinates (x, y, z, mx, my, mz).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6C8"/>
          </a:solidFill>
          <a:ln>
            <a:solidFill>
              <a:srgbClr val="006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66C8"/>
                </a:solidFill>
                <a:latin typeface="Helvetica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2203A"/>
                </a:solidFill>
                <a:latin typeface="Helvetica"/>
              </a:defRPr>
            </a:pPr>
            <a:r>
              <a:t>From Simulation to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E7884"/>
                </a:solidFill>
                <a:latin typeface="Arial"/>
              </a:defRPr>
            </a:pPr>
            <a:r>
              <a:t>Proposed experiment to test the simulation predictions against physical sensor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19072"/>
            <a:ext cx="5257800" cy="2240280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800"/>
              </a:spcAft>
              <a:defRPr b="1" sz="1300">
                <a:solidFill>
                  <a:srgbClr val="12203A"/>
                </a:solidFill>
              </a:defRPr>
            </a:pPr>
            <a:r>
              <a:t>❓  Question</a:t>
            </a:r>
          </a:p>
          <a:p>
            <a:pPr>
              <a:defRPr sz="1200">
                <a:solidFill>
                  <a:srgbClr val="44546A"/>
                </a:solidFill>
              </a:defRPr>
            </a:pPr>
            <a:r>
              <a:t>Does the static ambiguity predicted by the simulation appear in the real sensor data, and does controlled motion reduce it as predicted?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19072"/>
            <a:ext cx="5257800" cy="2240280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800"/>
              </a:spcAft>
              <a:defRPr b="1" sz="1300">
                <a:solidFill>
                  <a:srgbClr val="12203A"/>
                </a:solidFill>
              </a:defRPr>
            </a:pPr>
            <a:r>
              <a:t>⚙  Proposed Experiment</a:t>
            </a:r>
          </a:p>
          <a:p>
            <a:pPr>
              <a:defRPr sz="1200">
                <a:solidFill>
                  <a:srgbClr val="44546A"/>
                </a:solidFill>
              </a:defRPr>
            </a:pPr>
            <a:r>
              <a:t>Move the physical 3×3 array through controlled X and/or Z positions while measuring a fixed, calibrated magnetic source. Record raw sensor readings at each pose.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42231"/>
            <a:ext cx="5257800" cy="2240280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800"/>
              </a:spcAft>
              <a:defRPr b="1" sz="1300">
                <a:solidFill>
                  <a:srgbClr val="12203A"/>
                </a:solidFill>
              </a:defRPr>
            </a:pPr>
            <a:r>
              <a:t>📏  What to Measure</a:t>
            </a:r>
          </a:p>
          <a:p>
            <a:pPr>
              <a:defRPr sz="1200">
                <a:solidFill>
                  <a:srgbClr val="44546A"/>
                </a:solidFill>
              </a:defRPr>
            </a:pPr>
            <a:r>
              <a:t>• Actual sensor noise (spectral density, not assumed)</a:t>
            </a:r>
            <a:br/>
            <a:r>
              <a:t>• Sensor-to-sensor offset and calibration variation</a:t>
            </a:r>
            <a:br/>
            <a:r>
              <a:t>• Mechanical positioning repeatability</a:t>
            </a:r>
            <a:br/>
            <a:r>
              <a:t>• Background field contribution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4142231"/>
            <a:ext cx="5257800" cy="2240280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800"/>
              </a:spcAft>
              <a:defRPr b="1" sz="1300">
                <a:solidFill>
                  <a:srgbClr val="12203A"/>
                </a:solidFill>
              </a:defRPr>
            </a:pPr>
            <a:r>
              <a:t>🔁  Compare</a:t>
            </a:r>
          </a:p>
          <a:p>
            <a:pPr>
              <a:defRPr sz="1200">
                <a:solidFill>
                  <a:srgbClr val="44546A"/>
                </a:solidFill>
              </a:defRPr>
            </a:pPr>
            <a:r>
              <a:t>B_simulation  ↔  B_hardware</a:t>
            </a:r>
            <a:br/>
            <a:br/>
            <a:r>
              <a:t>Use measured hardware noise and errors to replace the idealized simulation assumptions and re-evaluate the ambiguity metric.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446520"/>
            <a:ext cx="10607040" cy="502920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/>
            <a:r>
              <a:rPr b="1" sz="1150">
                <a:solidFill>
                  <a:srgbClr val="229954"/>
                </a:solidFill>
              </a:rPr>
              <a:t>Completed: </a:t>
            </a:r>
            <a:r>
              <a:rPr sz="1150">
                <a:solidFill>
                  <a:srgbClr val="44546A"/>
                </a:solidFill>
              </a:rPr>
              <a:t>simulator, validation, geometry sweeps, observability, ambiguity search, preliminary motion simulation.   </a:t>
            </a:r>
            <a:r>
              <a:rPr b="1" sz="1150">
                <a:solidFill>
                  <a:srgbClr val="D46A0C"/>
                </a:solidFill>
              </a:rPr>
              <a:t>Proposed: </a:t>
            </a:r>
            <a:r>
              <a:rPr sz="1150">
                <a:solidFill>
                  <a:srgbClr val="44546A"/>
                </a:solidFill>
              </a:rPr>
              <a:t>Arduino linear stage, motion experiment, hardware noise characterization, simulation/hardware comparison.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66C8"/>
                </a:solidFill>
                <a:latin typeface="Helvetica"/>
              </a:defRPr>
            </a:pPr>
            <a:r>
              <a:t>APPENDIX — MATHEMATICAL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03A"/>
                </a:solidFill>
                <a:latin typeface="Helvetica"/>
              </a:defRPr>
            </a:pPr>
            <a:r>
              <a:t>Equations and Model Definitions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394960" cy="521207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/>
          <a:lstStyle/>
          <a:p>
            <a:pPr algn="ctr"/>
            <a:r>
              <a:rPr b="1" sz="1000">
                <a:solidFill>
                  <a:srgbClr val="12203A"/>
                </a:solidFill>
              </a:rPr>
              <a:t>Dipole field (3D):  </a:t>
            </a:r>
            <a:r>
              <a:rPr sz="1000">
                <a:solidFill>
                  <a:srgbClr val="44546A"/>
                </a:solidFill>
              </a:rPr>
              <a:t>B(r) = (μ₀/4π) [ 3(m·r̂)r̂ − m ] / r³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57984"/>
            <a:ext cx="5394960" cy="521207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/>
          <a:lstStyle/>
          <a:p>
            <a:pPr algn="ctr"/>
            <a:r>
              <a:rPr b="1" sz="1000">
                <a:solidFill>
                  <a:srgbClr val="12203A"/>
                </a:solidFill>
              </a:rPr>
              <a:t>Bz component:  </a:t>
            </a:r>
            <a:r>
              <a:rPr sz="1000">
                <a:solidFill>
                  <a:srgbClr val="44546A"/>
                </a:solidFill>
              </a:rPr>
              <a:t>Bz = (μ₀/4π) [ 3mz(z/r)²/r³ + terms from mx, my ]   (full form in source)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15768"/>
            <a:ext cx="5394960" cy="521207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/>
          <a:lstStyle/>
          <a:p>
            <a:pPr algn="ctr"/>
            <a:r>
              <a:rPr b="1" sz="1000">
                <a:solidFill>
                  <a:srgbClr val="12203A"/>
                </a:solidFill>
              </a:rPr>
              <a:t>Source parameter vector:  </a:t>
            </a:r>
            <a:r>
              <a:rPr sz="1000">
                <a:solidFill>
                  <a:srgbClr val="44546A"/>
                </a:solidFill>
              </a:rPr>
              <a:t>θ = [x, y, z, mx, my, mz]ᵀ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73551"/>
            <a:ext cx="5394960" cy="521207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/>
          <a:lstStyle/>
          <a:p>
            <a:pPr algn="ctr"/>
            <a:r>
              <a:rPr b="1" sz="1000">
                <a:solidFill>
                  <a:srgbClr val="12203A"/>
                </a:solidFill>
              </a:rPr>
              <a:t>Measurement model:  </a:t>
            </a:r>
            <a:r>
              <a:rPr sz="1000">
                <a:solidFill>
                  <a:srgbClr val="44546A"/>
                </a:solidFill>
              </a:rPr>
              <a:t>b = f(θ) + ε,   ε ~ N(0, σ²I)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31335"/>
            <a:ext cx="5394960" cy="521207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/>
          <a:lstStyle/>
          <a:p>
            <a:pPr algn="ctr"/>
            <a:r>
              <a:rPr b="1" sz="1000">
                <a:solidFill>
                  <a:srgbClr val="12203A"/>
                </a:solidFill>
              </a:rPr>
              <a:t>Jacobian:  </a:t>
            </a:r>
            <a:r>
              <a:rPr sz="1000">
                <a:solidFill>
                  <a:srgbClr val="44546A"/>
                </a:solidFill>
              </a:rPr>
              <a:t>J = ∂f/∂θ  (9×6)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389120"/>
            <a:ext cx="5394960" cy="521207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/>
          <a:lstStyle/>
          <a:p>
            <a:pPr algn="ctr"/>
            <a:r>
              <a:rPr b="1" sz="1000">
                <a:solidFill>
                  <a:srgbClr val="12203A"/>
                </a:solidFill>
              </a:rPr>
              <a:t>Jacobian normalization:  </a:t>
            </a:r>
            <a:r>
              <a:rPr sz="1000">
                <a:solidFill>
                  <a:srgbClr val="44546A"/>
                </a:solidFill>
              </a:rPr>
              <a:t>J_norm = J · diag(scales),  scales = [z, z, z, |m|, |m|, |m|]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946904"/>
            <a:ext cx="5394960" cy="521207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/>
          <a:lstStyle/>
          <a:p>
            <a:pPr algn="ctr"/>
            <a:r>
              <a:rPr b="1" sz="1000">
                <a:solidFill>
                  <a:srgbClr val="12203A"/>
                </a:solidFill>
              </a:rPr>
              <a:t>SVD:  </a:t>
            </a:r>
            <a:r>
              <a:rPr sz="1000">
                <a:solidFill>
                  <a:srgbClr val="44546A"/>
                </a:solidFill>
              </a:rPr>
              <a:t>J = U Σ Vᵀ,    σ₁ ≥ σ₂ ≥ … ≥ σ₆ ≥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5394960" cy="521207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/>
          <a:lstStyle/>
          <a:p>
            <a:pPr algn="ctr"/>
            <a:r>
              <a:rPr b="1" sz="1000">
                <a:solidFill>
                  <a:srgbClr val="12203A"/>
                </a:solidFill>
              </a:rPr>
              <a:t>Condition number:  </a:t>
            </a:r>
            <a:r>
              <a:rPr sz="1000">
                <a:solidFill>
                  <a:srgbClr val="44546A"/>
                </a:solidFill>
              </a:rPr>
              <a:t>κ = σ_max / σ_min  (dimensionless, measures conditioning unevenness)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57984"/>
            <a:ext cx="5394960" cy="521207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/>
          <a:lstStyle/>
          <a:p>
            <a:pPr algn="ctr"/>
            <a:r>
              <a:rPr b="1" sz="1000">
                <a:solidFill>
                  <a:srgbClr val="12203A"/>
                </a:solidFill>
              </a:rPr>
              <a:t>Fisher information (position only):  </a:t>
            </a:r>
            <a:r>
              <a:rPr sz="1000">
                <a:solidFill>
                  <a:srgbClr val="44546A"/>
                </a:solidFill>
              </a:rPr>
              <a:t>F = (1/σ²) JᵀJ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715768"/>
            <a:ext cx="5394960" cy="521207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/>
          <a:lstStyle/>
          <a:p>
            <a:pPr algn="ctr"/>
            <a:r>
              <a:rPr b="1" sz="1000">
                <a:solidFill>
                  <a:srgbClr val="12203A"/>
                </a:solidFill>
              </a:rPr>
              <a:t>CRLB:  </a:t>
            </a:r>
            <a:r>
              <a:rPr sz="1000">
                <a:solidFill>
                  <a:srgbClr val="44546A"/>
                </a:solidFill>
              </a:rPr>
              <a:t>Cov(θ̂) ≥ F⁻¹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273551"/>
            <a:ext cx="5394960" cy="521207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/>
          <a:lstStyle/>
          <a:p>
            <a:pPr algn="ctr"/>
            <a:r>
              <a:rPr b="1" sz="1000">
                <a:solidFill>
                  <a:srgbClr val="12203A"/>
                </a:solidFill>
              </a:rPr>
              <a:t>Linear moment model:  </a:t>
            </a:r>
            <a:r>
              <a:rPr sz="1000">
                <a:solidFill>
                  <a:srgbClr val="44546A"/>
                </a:solidFill>
              </a:rPr>
              <a:t>b = A m,    A constructed from unit-moment dipole fields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831335"/>
            <a:ext cx="5394960" cy="521207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/>
          <a:lstStyle/>
          <a:p>
            <a:pPr algn="ctr"/>
            <a:r>
              <a:rPr b="1" sz="1000">
                <a:solidFill>
                  <a:srgbClr val="12203A"/>
                </a:solidFill>
              </a:rPr>
              <a:t>Detection threshold:  </a:t>
            </a:r>
            <a:r>
              <a:rPr sz="1000">
                <a:solidFill>
                  <a:srgbClr val="44546A"/>
                </a:solidFill>
              </a:rPr>
              <a:t>max|Bz| ≥ B_min = 10 nT  (simulation parameter, not measured hardware floor)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389120"/>
            <a:ext cx="5394960" cy="521207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/>
          <a:lstStyle/>
          <a:p>
            <a:pPr algn="ctr"/>
            <a:r>
              <a:rPr b="1" sz="1000">
                <a:solidFill>
                  <a:srgbClr val="12203A"/>
                </a:solidFill>
              </a:rPr>
              <a:t>Ambiguity RMSE:  </a:t>
            </a:r>
            <a:r>
              <a:rPr sz="1000">
                <a:solidFill>
                  <a:srgbClr val="44546A"/>
                </a:solidFill>
              </a:rPr>
              <a:t>RMSE = √(mean_i (b_A,i − b_B,i)²)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946904"/>
            <a:ext cx="5394960" cy="521207"/>
          </a:xfrm>
          <a:prstGeom prst="roundRect">
            <a:avLst/>
          </a:prstGeom>
          <a:solidFill>
            <a:srgbClr val="F7F9FC"/>
          </a:solidFill>
          <a:ln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/>
          <a:lstStyle/>
          <a:p>
            <a:pPr algn="ctr"/>
            <a:r>
              <a:rPr b="1" sz="1000">
                <a:solidFill>
                  <a:srgbClr val="12203A"/>
                </a:solidFill>
              </a:rPr>
              <a:t>Multi-pose Jacobian:  </a:t>
            </a:r>
            <a:r>
              <a:rPr sz="1000">
                <a:solidFill>
                  <a:srgbClr val="44546A"/>
                </a:solidFill>
              </a:rPr>
              <a:t>J_stack = [J(pose₁)ᵀ  J(pose₂)ᵀ … J(pose_N)ᵀ]ᵀ  (unnormalized in motion study)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92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E7884"/>
                </a:solidFill>
              </a:defRPr>
            </a:pPr>
            <a:r>
              <a:t>Note: singular values σ₁–σ₆ represent orthogonal combinations of source-parameter changes — they do not correspond one-to-one to individual parameters (x, y, z, mx, my, mz).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